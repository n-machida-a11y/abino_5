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メイリオ"/>
              </a:rPr>
              <a:t>工事番号管理システム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800" b="0">
                <a:solidFill>
                  <a:srgbClr val="BDC3C7"/>
                </a:solidFill>
                <a:latin typeface="メイリオ"/>
              </a:rPr>
              <a:t>3つのファイルの役割と関係性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206240"/>
            <a:ext cx="2103120" cy="54864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メイリオ"/>
              </a:rPr>
              <a:t>2026年6月リリース版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メイリオ"/>
              </a:rPr>
              <a:t>3つのファイルの全体像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280160"/>
            <a:ext cx="3474720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3727" y="1280160"/>
            <a:ext cx="3474720" cy="100584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3727" y="1371600"/>
            <a:ext cx="3474720" cy="914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①【全社展開用】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工事番号入力管理表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2423160"/>
            <a:ext cx="31089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4A90E2"/>
                </a:solidFill>
                <a:latin typeface="メイリオ"/>
              </a:rPr>
              <a:t>👤 現場担当者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2880360"/>
            <a:ext cx="31089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メイリオ"/>
              </a:rPr>
              <a:t>📂 個人PC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383280"/>
            <a:ext cx="3108960" cy="23774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現場ごとに各自のPCに配布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/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主な操作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・新規登録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・依頼書作成（PDF）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・既存案件の編集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・印刷物の出力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487" y="1280160"/>
            <a:ext cx="3474720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ED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8487" y="1280160"/>
            <a:ext cx="3474720" cy="1005840"/>
          </a:xfrm>
          <a:prstGeom prst="roundRect">
            <a:avLst/>
          </a:prstGeom>
          <a:solidFill>
            <a:srgbClr val="7ED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8487" y="1371600"/>
            <a:ext cx="3474720" cy="914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②工事番号管理表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（マスタ）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2423160"/>
            <a:ext cx="31089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7ED321"/>
                </a:solidFill>
                <a:latin typeface="メイリオ"/>
              </a:rPr>
              <a:t>👤 共有データ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880360"/>
            <a:ext cx="31089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メイリオ"/>
              </a:rPr>
              <a:t>📂 共有ドライブ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3383280"/>
            <a:ext cx="3108960" cy="23774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全現場のデータを集約する大元のファイル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/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役割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・全データの正本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・依頼書セル設定の保管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・管理マスタ/その他マスタ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  などの参照元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247" y="1280160"/>
            <a:ext cx="3474720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3247" y="1280160"/>
            <a:ext cx="3474720" cy="10058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247" y="1371600"/>
            <a:ext cx="3474720" cy="914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③【管理者入力用】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工事番号管理表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127" y="2423160"/>
            <a:ext cx="31089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メイリオ"/>
              </a:rPr>
              <a:t>👤 管理者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6127" y="2880360"/>
            <a:ext cx="31089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メイリオ"/>
              </a:rPr>
              <a:t>📂 管理者PC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3383280"/>
            <a:ext cx="3108960" cy="23774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全現場の取りまとめ・修正用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/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主な操作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・マスタから最新取得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・直接編集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・マスタへ反映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・各種マスタの管理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メイリオ"/>
              </a:rPr>
              <a:t>データの流れ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5647" y="2560320"/>
            <a:ext cx="3200400" cy="1828800"/>
          </a:xfrm>
          <a:prstGeom prst="roundRect">
            <a:avLst/>
          </a:prstGeom>
          <a:solidFill>
            <a:srgbClr val="7ED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</a:rPr>
              <a:t>② 工事番号管理表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メイリオ"/>
              </a:rPr>
              <a:t>（マスタ）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メイリオ"/>
              </a:rPr>
              <a:t/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メイリオ"/>
              </a:rPr>
              <a:t>📂 共有ドライブ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5647" y="4526280"/>
            <a:ext cx="3200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7ED321"/>
                </a:solidFill>
                <a:latin typeface="メイリオ"/>
              </a:rPr>
              <a:t>★全データの正本★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103120" cy="109728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①【全社展開用】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現場担当者A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（建築事業部）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2103120" cy="109728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①【全社展開用】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現場担当者B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（建築事業部）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2103120" cy="109728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①【全社展開用】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現場担当者C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（土木事業部）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1031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メイリオ"/>
              </a:rPr>
              <a:t>👤 現場担当者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4175" y="2743200"/>
            <a:ext cx="2560320" cy="14630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③【管理者入力用】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工事番号管理表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5" y="2286000"/>
            <a:ext cx="25603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メイリオ"/>
              </a:rPr>
              <a:t>👤 管理者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377440.0"/>
            <a:ext cx="1935327.5" cy="548640.0"/>
          </a:xfrm>
          <a:prstGeom prst="bentConnector3">
            <a:avLst/>
          </a:prstGeom>
          <a:ln w="31750">
            <a:solidFill>
              <a:srgbClr val="4A90E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560320" y="3291840"/>
            <a:ext cx="1935327.5" cy="365760.0"/>
          </a:xfrm>
          <a:prstGeom prst="bentConnector3">
            <a:avLst/>
          </a:prstGeom>
          <a:ln w="31750">
            <a:solidFill>
              <a:srgbClr val="4A90E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60320" y="3657600"/>
            <a:ext cx="1935327.5" cy="1280160.0"/>
          </a:xfrm>
          <a:prstGeom prst="bentConnector3">
            <a:avLst/>
          </a:prstGeom>
          <a:ln w="31750">
            <a:solidFill>
              <a:srgbClr val="4A90E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0" y="1463040"/>
            <a:ext cx="2286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4A90E2"/>
                </a:solidFill>
                <a:latin typeface="メイリオ"/>
              </a:rPr>
              <a:t>依頼書作成時に参照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96047.5" y="3200400"/>
            <a:ext cx="1478127.5" cy="0"/>
          </a:xfrm>
          <a:prstGeom prst="bentConnector3">
            <a:avLst/>
          </a:prstGeom>
          <a:ln w="38100">
            <a:solidFill>
              <a:srgbClr val="F5A62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87487" y="2743200"/>
            <a:ext cx="129524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  <a:latin typeface="メイリオ"/>
              </a:rPr>
              <a:t>①最新取得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696047.5" y="3749040"/>
            <a:ext cx="1478127.5" cy="0"/>
          </a:xfrm>
          <a:prstGeom prst="bentConnector3">
            <a:avLst/>
          </a:prstGeom>
          <a:ln w="38100">
            <a:solidFill>
              <a:srgbClr val="F5A62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87487" y="3794760"/>
            <a:ext cx="129524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  <a:latin typeface="メイリオ"/>
              </a:rPr>
              <a:t>②マスタへ反映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11247120" cy="1554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メイリオ"/>
              </a:rPr>
              <a:t>💡 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10881360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• 現場担当者は【全社展開用】を直接操作しますが、「依頼書セル設定」などの設定情報は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  自動的にマスタから読み込まれます。手動でコピーする必要はありません。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• 管理者は【管理者入力用】で編集し、「マスタへ反映」マクロを実行するとマスタへ同期されます。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• 編集はかならず【管理者入力用】 → マスタ の順で流す運用を推奨します。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メイリオ"/>
              </a:rPr>
              <a:t>「依頼書セル設定」シートはどこにある？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5486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ファイル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280160"/>
            <a:ext cx="2286000" cy="5486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依頼書セル設定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760720" cy="5486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備考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6576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200" b="1">
                <a:solidFill>
                  <a:srgbClr val="4A90E2"/>
                </a:solidFill>
                <a:latin typeface="メイリオ"/>
              </a:rPr>
              <a:t>①【全社展開用】</a:t>
            </a:r>
          </a:p>
          <a:p>
            <a:pPr algn="ctr"/>
            <a:r>
              <a:rPr sz="1200" b="1">
                <a:solidFill>
                  <a:srgbClr val="4A90E2"/>
                </a:solidFill>
                <a:latin typeface="メイリオ"/>
              </a:rPr>
              <a:t>工事番号入力管理表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22860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2C3E50"/>
                </a:solidFill>
                <a:latin typeface="メイリオ"/>
              </a:rPr>
              <a:t>❌ なし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760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l"/>
            <a:r>
              <a:rPr sz="1100" b="0">
                <a:solidFill>
                  <a:srgbClr val="2C3E50"/>
                </a:solidFill>
                <a:latin typeface="メイリオ"/>
              </a:rPr>
              <a:t>現場担当者は触らない設計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メイリオ"/>
              </a:rPr>
              <a:t>（直接編集できないようにしてあります）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6576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200" b="1">
                <a:solidFill>
                  <a:srgbClr val="7ED321"/>
                </a:solidFill>
                <a:latin typeface="メイリオ"/>
              </a:rPr>
              <a:t>②工事番号管理表</a:t>
            </a:r>
          </a:p>
          <a:p>
            <a:pPr algn="ctr"/>
            <a:r>
              <a:rPr sz="1200" b="1">
                <a:solidFill>
                  <a:srgbClr val="7ED321"/>
                </a:solidFill>
                <a:latin typeface="メイリオ"/>
              </a:rPr>
              <a:t>（マスタ）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743200"/>
            <a:ext cx="22860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2C3E50"/>
                </a:solidFill>
                <a:latin typeface="メイリオ"/>
              </a:rPr>
              <a:t>✅ あり</a:t>
            </a:r>
          </a:p>
          <a:p>
            <a:pPr algn="ctr"/>
            <a:r>
              <a:rPr sz="1300" b="1">
                <a:solidFill>
                  <a:srgbClr val="2C3E50"/>
                </a:solidFill>
                <a:latin typeface="メイリオ"/>
              </a:rPr>
              <a:t>★正本★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5760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l"/>
            <a:r>
              <a:rPr sz="1100" b="0">
                <a:solidFill>
                  <a:srgbClr val="2C3E50"/>
                </a:solidFill>
                <a:latin typeface="メイリオ"/>
              </a:rPr>
              <a:t>VBAはここを読みに行きます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メイリオ"/>
              </a:rPr>
              <a:t>ここの値が「実際に使われる値」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6576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200" b="1">
                <a:solidFill>
                  <a:srgbClr val="F5A623"/>
                </a:solidFill>
                <a:latin typeface="メイリオ"/>
              </a:rPr>
              <a:t>③【管理者入力用】</a:t>
            </a:r>
          </a:p>
          <a:p>
            <a:pPr algn="ctr"/>
            <a:r>
              <a:rPr sz="1200" b="1">
                <a:solidFill>
                  <a:srgbClr val="F5A623"/>
                </a:solidFill>
                <a:latin typeface="メイリオ"/>
              </a:rPr>
              <a:t>工事番号管理表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657600"/>
            <a:ext cx="22860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2C3E50"/>
                </a:solidFill>
                <a:latin typeface="メイリオ"/>
              </a:rPr>
              <a:t>✅ あり</a:t>
            </a:r>
          </a:p>
          <a:p>
            <a:pPr algn="ctr"/>
            <a:r>
              <a:rPr sz="1300" b="1">
                <a:solidFill>
                  <a:srgbClr val="2C3E50"/>
                </a:solidFill>
                <a:latin typeface="メイリオ"/>
              </a:rPr>
              <a:t>（編集用）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657600"/>
            <a:ext cx="5760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l"/>
            <a:r>
              <a:rPr sz="1100" b="0">
                <a:solidFill>
                  <a:srgbClr val="2C3E50"/>
                </a:solidFill>
                <a:latin typeface="メイリオ"/>
              </a:rPr>
              <a:t>ここで編集した後、「マスタへ反映」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メイリオ"/>
              </a:rPr>
              <a:t>マクロを実行することで②に同期される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118872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メイリオ"/>
              </a:rPr>
              <a:t>⚠ よくある間違い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「依頼書セル設定」を編集しても反映されない、という場合は、編集場所がマスタ②でないか、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もしくは③で編集後に「マスタへ反映」マクロを実行していないケースがほとんどです。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メイリオ"/>
              </a:rPr>
              <a:t>誰がどのファイルを操作する？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" cy="169164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972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32004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メイリオ"/>
              </a:rPr>
              <a:t>👷 現場担当者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325880"/>
            <a:ext cx="73152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メイリオ"/>
              </a:rPr>
              <a:t>①【全社展開用】工事番号入力管理表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メイリオ"/>
              </a:rPr>
              <a:t>✅ 新規登録／依頼書作成／PDF出力／印刷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E74C3C"/>
                </a:solidFill>
                <a:latin typeface="メイリオ"/>
              </a:rPr>
              <a:t>❌ マスタ②や管理者③のファイルを直接触らない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274320" cy="16916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0972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32004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メイリオ"/>
              </a:rPr>
              <a:t>🧑‍💼 管理者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154680"/>
            <a:ext cx="73152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メイリオ"/>
              </a:rPr>
              <a:t>③【管理者入力用】工事番号管理表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メイリオ"/>
              </a:rPr>
              <a:t>✅ 最新取得 → 必要に応じて修正 → マスタへ反映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E74C3C"/>
                </a:solidFill>
                <a:latin typeface="メイリオ"/>
              </a:rPr>
              <a:t>❌ マスタ②を直接編集するのは原則 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274320" cy="1691640"/>
          </a:xfrm>
          <a:prstGeom prst="roundRect">
            <a:avLst/>
          </a:prstGeom>
          <a:solidFill>
            <a:srgbClr val="7ED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972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D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32004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7ED321"/>
                </a:solidFill>
                <a:latin typeface="メイリオ"/>
              </a:rPr>
              <a:t>📁 （システム）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983480"/>
            <a:ext cx="73152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メイリオ"/>
              </a:rPr>
              <a:t>②工事番号管理表（マスタ）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メイリオ"/>
              </a:rPr>
              <a:t>✅ 自動的に①②③のVBAから読み書きされる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E74C3C"/>
                </a:solidFill>
                <a:latin typeface="メイリオ"/>
              </a:rPr>
              <a:t>❌ 直接編集は緊急時のみ（管理者経由を推奨）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メイリオ"/>
              </a:rPr>
              <a:t>典型的な業務フロー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メイリオ"/>
              </a:rPr>
              <a:t>例：現場担当者Aさんが新規工事を登録 → 請求書提出依頼書を発行する場合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914400" cy="59436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16459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メイリオ"/>
              </a:rPr>
              <a:t>👤 現場担当者Aさん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3657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メイリオ"/>
              </a:rPr>
              <a:t>①【全社展開用】を開く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00200"/>
            <a:ext cx="6400800" cy="6858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メイリオ"/>
              </a:rPr>
              <a:t>自分のPC上の【全社展開用】xlsmを起動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914400" cy="59436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77440"/>
            <a:ext cx="16459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メイリオ"/>
              </a:rPr>
              <a:t>👤 Aさん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80"/>
            <a:ext cx="3657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メイリオ"/>
              </a:rPr>
              <a:t>「新規登録」を実行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77440"/>
            <a:ext cx="6400800" cy="6858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メイリオ"/>
              </a:rPr>
              <a:t>VBAが自動で②マスタを参照</a:t>
            </a:r>
          </a:p>
          <a:p>
            <a:pPr algn="l"/>
            <a:r>
              <a:rPr sz="1100" b="0">
                <a:solidFill>
                  <a:srgbClr val="7F8C8D"/>
                </a:solidFill>
                <a:latin typeface="メイリオ"/>
              </a:rPr>
              <a:t>→ 採番ルール・マスタデータを取得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914400" cy="59436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54680"/>
            <a:ext cx="16459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メイリオ"/>
              </a:rPr>
              <a:t>👤 Aさん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74720"/>
            <a:ext cx="3657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メイリオ"/>
              </a:rPr>
              <a:t>工事情報を入力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154680"/>
            <a:ext cx="6400800" cy="6858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メイリオ"/>
              </a:rPr>
              <a:t>工事名・宛名・金額・期日等を入力</a:t>
            </a:r>
          </a:p>
          <a:p>
            <a:pPr algn="l"/>
            <a:r>
              <a:rPr sz="1100" b="0">
                <a:solidFill>
                  <a:srgbClr val="7F8C8D"/>
                </a:solidFill>
                <a:latin typeface="メイリオ"/>
              </a:rPr>
              <a:t>→ 自動で工事番号「03-26-000001」が発番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40"/>
            <a:ext cx="914400" cy="59436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31920"/>
            <a:ext cx="16459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メイリオ"/>
              </a:rPr>
              <a:t>👤 Aさん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51960"/>
            <a:ext cx="3657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メイリオ"/>
              </a:rPr>
              <a:t>「依頼書作成」を実行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931920"/>
            <a:ext cx="6400800" cy="6858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メイリオ"/>
              </a:rPr>
              <a:t>②マスタの「依頼書セル設定」を参照して</a:t>
            </a:r>
          </a:p>
          <a:p>
            <a:pPr algn="l"/>
            <a:r>
              <a:rPr sz="1100" b="0">
                <a:solidFill>
                  <a:srgbClr val="7F8C8D"/>
                </a:solidFill>
                <a:latin typeface="メイリオ"/>
              </a:rPr>
              <a:t>請求書提出依頼書シートに転記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914400" cy="59436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09160"/>
            <a:ext cx="16459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メイリオ"/>
              </a:rPr>
              <a:t>👤 Aさん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29200"/>
            <a:ext cx="3657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メイリオ"/>
              </a:rPr>
              <a:t>PDF出力／印刷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709160"/>
            <a:ext cx="6400800" cy="6858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メイリオ"/>
              </a:rPr>
              <a:t>依頼書がPDF化され、保存場所へ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32120"/>
            <a:ext cx="914400" cy="5943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86400"/>
            <a:ext cx="16459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メイリオ"/>
              </a:rPr>
              <a:t>👤 管理者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806440"/>
            <a:ext cx="3657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メイリオ"/>
              </a:rPr>
              <a:t>③で最新取得 → 反映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486400"/>
            <a:ext cx="6400800" cy="6858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メイリオ"/>
              </a:rPr>
              <a:t>必要に応じて編集して②へ反映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メイリオ"/>
              </a:rPr>
              <a:t>部門ごとの運用について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メイリオ"/>
              </a:rPr>
              <a:t>2026年6月から、建築事業部・土木事業部 などの部門コードでデータを分離管理します。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754880"/>
          </a:xfrm>
          <a:prstGeom prst="roundRect">
            <a:avLst/>
          </a:prstGeom>
          <a:solidFill>
            <a:srgbClr val="EAF2FC"/>
          </a:solidFill>
          <a:ln w="2540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12064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メイリオ"/>
              </a:rPr>
              <a:t>🏗 建築事業部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41148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部門コード：03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/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工事番号の形式：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03-26-000001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（部門03 + 年度26 + 6桁通番）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/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現場担当者のxlsm 設定：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「入力フォーム」シートの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A37セル に 「03」 を入力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/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管理者用xlsm 設定：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「管理者設定用コード」モジュールの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MY_DEPT_CODE = "03"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486400" cy="4754880"/>
          </a:xfrm>
          <a:prstGeom prst="roundRect">
            <a:avLst/>
          </a:prstGeom>
          <a:solidFill>
            <a:srgbClr val="ECF8E4"/>
          </a:solidFill>
          <a:ln w="25400">
            <a:solidFill>
              <a:srgbClr val="5A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5A9F1C"/>
                </a:solidFill>
                <a:latin typeface="メイリオ"/>
              </a:rPr>
              <a:t>🚜 土木事業部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120640" cy="41148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部門コード：05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/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工事番号の形式：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05-26-000001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（部門05 + 年度26 + 6桁通番）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/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現場担当者のxlsm 設定：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「入力フォーム」シートの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A37セル に 「05」 を入力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/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■ 管理者用xlsm 設定：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「管理者設定用コード」モジュールの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メイリオ"/>
              </a:rPr>
              <a:t>　　MY_DEPT_CODE = "05"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メイリオ"/>
              </a:rPr>
              <a:t>まとめ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188720" cy="137160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4600" b="1">
                <a:solidFill>
                  <a:srgbClr val="FFFFFF"/>
                </a:solidFill>
                <a:latin typeface="メイリオ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463040"/>
            <a:ext cx="96012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メイリオ"/>
              </a:rPr>
              <a:t>それぞれのファイルには明確な役割がある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057400"/>
            <a:ext cx="96012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メイリオ"/>
              </a:rPr>
              <a:t>現場・マスタ・管理者の3者で住み分け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1188720" cy="1371600"/>
          </a:xfrm>
          <a:prstGeom prst="roundRect">
            <a:avLst/>
          </a:prstGeom>
          <a:solidFill>
            <a:srgbClr val="7ED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4600" b="1">
                <a:solidFill>
                  <a:srgbClr val="FFFFFF"/>
                </a:solidFill>
                <a:latin typeface="メイリオ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017520"/>
            <a:ext cx="96012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メイリオ"/>
              </a:rPr>
              <a:t>データの正本は必ず「マスタ」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611880"/>
            <a:ext cx="96012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メイリオ"/>
              </a:rPr>
              <a:t>依頼書セル設定など、VBAが読むのは常にマスタ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188720" cy="13716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4600" b="1">
                <a:solidFill>
                  <a:srgbClr val="FFFFFF"/>
                </a:solidFill>
                <a:latin typeface="メイリオ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572000"/>
            <a:ext cx="96012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メイリオ"/>
              </a:rPr>
              <a:t>編集は「管理者用 → マスタへ反映」が基本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166360"/>
            <a:ext cx="96012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メイリオ"/>
              </a:rPr>
              <a:t>管理者用で編集後、必ずマスタへ反映マクロを実行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217920"/>
            <a:ext cx="12191695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メイリオ"/>
              </a:rPr>
              <a:t>ご不明な点は machida までお気軽にご連絡ください。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